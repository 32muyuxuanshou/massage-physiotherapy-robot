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8" r:id="rId4"/>
    <p:sldId id="259" r:id="rId5"/>
    <p:sldId id="260" r:id="rId6"/>
    <p:sldId id="25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5EDC73-28F1-4A2B-BCDE-B310BD6983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apsix.com/" TargetMode="External"/><Relationship Id="rId1" Type="http://schemas.openxmlformats.org/officeDocument/2006/relationships/hyperlink" Target="https://fuxi.163.com/netease-robot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6" Type="http://schemas.openxmlformats.org/officeDocument/2006/relationships/tags" Target="../tags/tag3.xml"/><Relationship Id="rId5" Type="http://schemas.openxmlformats.org/officeDocument/2006/relationships/image" Target="../media/image3.jpeg"/><Relationship Id="rId4" Type="http://schemas.openxmlformats.org/officeDocument/2006/relationships/tags" Target="../tags/tag2.xml"/><Relationship Id="rId3" Type="http://schemas.openxmlformats.org/officeDocument/2006/relationships/image" Target="../media/image2.jpe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jpeg"/><Relationship Id="rId7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image" Target="../media/image16.png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image" Target="../media/image15.png"/><Relationship Id="rId4" Type="http://schemas.openxmlformats.org/officeDocument/2006/relationships/tags" Target="../tags/tag13.xml"/><Relationship Id="rId3" Type="http://schemas.openxmlformats.org/officeDocument/2006/relationships/image" Target="../media/image14.png"/><Relationship Id="rId2" Type="http://schemas.openxmlformats.org/officeDocument/2006/relationships/tags" Target="../tags/tag12.xml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image" Target="../media/image17.png"/><Relationship Id="rId12" Type="http://schemas.openxmlformats.org/officeDocument/2006/relationships/tags" Target="../tags/tag18.xml"/><Relationship Id="rId11" Type="http://schemas.openxmlformats.org/officeDocument/2006/relationships/image" Target="../media/image10.png"/><Relationship Id="rId10" Type="http://schemas.openxmlformats.org/officeDocument/2006/relationships/tags" Target="../tags/tag17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546090" y="2559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按摩机器人</a:t>
            </a: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77240" y="864235"/>
            <a:ext cx="3242945" cy="566737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814830" y="993775"/>
            <a:ext cx="1377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前端</a:t>
            </a:r>
            <a:r>
              <a:rPr lang="zh-CN" altLang="en-US"/>
              <a:t>官网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345940" y="864235"/>
            <a:ext cx="3242945" cy="566737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149215" y="993775"/>
            <a:ext cx="1637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前端</a:t>
            </a:r>
            <a:r>
              <a:rPr lang="zh-CN" altLang="en-US"/>
              <a:t>应用界面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8084820" y="864235"/>
            <a:ext cx="3242945" cy="566737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888095" y="993775"/>
            <a:ext cx="1637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后端控制</a:t>
            </a:r>
            <a:r>
              <a:rPr lang="zh-CN" altLang="en-US"/>
              <a:t>框架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16000" y="1734820"/>
            <a:ext cx="269557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hlinkClick r:id="rId1"/>
              </a:rPr>
              <a:t>理疗机器人</a:t>
            </a:r>
            <a:r>
              <a:rPr lang="en-US" altLang="zh-CN" sz="1600">
                <a:hlinkClick r:id="rId1"/>
              </a:rPr>
              <a:t>-AI</a:t>
            </a:r>
            <a:r>
              <a:rPr lang="zh-CN" altLang="en-US" sz="1600">
                <a:hlinkClick r:id="rId1"/>
              </a:rPr>
              <a:t>理疗个性化服务</a:t>
            </a:r>
            <a:r>
              <a:rPr lang="en-US" altLang="zh-CN" sz="1600">
                <a:hlinkClick r:id="rId1"/>
              </a:rPr>
              <a:t>-</a:t>
            </a:r>
            <a:r>
              <a:rPr lang="zh-CN" altLang="en-US" sz="1600">
                <a:hlinkClick r:id="rId1"/>
              </a:rPr>
              <a:t>易启未来</a:t>
            </a:r>
            <a:endParaRPr lang="zh-CN" altLang="en-US" sz="1600">
              <a:hlinkClick r:id="rId1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16000" y="2771775"/>
            <a:ext cx="343408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hlinkClick r:id="rId2"/>
              </a:rPr>
              <a:t>Capsix - where technology meets humanity</a:t>
            </a:r>
            <a:endParaRPr lang="en-US" altLang="zh-CN" sz="1600">
              <a:hlinkClick r:id="rId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59400" y="97155"/>
            <a:ext cx="2762250" cy="500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3200" dirty="0"/>
          </a:p>
        </p:txBody>
      </p:sp>
      <p:sp>
        <p:nvSpPr>
          <p:cNvPr id="5" name="文本框 4"/>
          <p:cNvSpPr txBox="1"/>
          <p:nvPr/>
        </p:nvSpPr>
        <p:spPr>
          <a:xfrm>
            <a:off x="1330325" y="769620"/>
            <a:ext cx="3592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一、机械设计、外观设计：</a:t>
            </a: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6070" y="1347470"/>
            <a:ext cx="2844800" cy="22498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4833620" y="1270000"/>
            <a:ext cx="2953385" cy="23552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957945" y="1781810"/>
            <a:ext cx="26104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机器人末端、</a:t>
            </a:r>
            <a:endParaRPr lang="zh-CN" altLang="en-US"/>
          </a:p>
          <a:p>
            <a:r>
              <a:rPr lang="zh-CN" altLang="en-US"/>
              <a:t>机械臂关节、</a:t>
            </a:r>
            <a:endParaRPr lang="zh-CN" altLang="en-US"/>
          </a:p>
          <a:p>
            <a:r>
              <a:rPr lang="zh-CN" altLang="en-US"/>
              <a:t>机械臂构型设计、</a:t>
            </a:r>
            <a:endParaRPr lang="zh-CN" altLang="en-US"/>
          </a:p>
          <a:p>
            <a:r>
              <a:rPr lang="zh-CN" altLang="en-US"/>
              <a:t>以及其他智能设备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330325" y="3812540"/>
            <a:ext cx="415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二、嵌入式软硬件开发</a:t>
            </a:r>
            <a:r>
              <a:rPr lang="zh-CN" altLang="en-US"/>
              <a:t>：</a:t>
            </a:r>
            <a:endParaRPr lang="zh-CN" altLang="en-US"/>
          </a:p>
        </p:txBody>
      </p:sp>
      <p:pic>
        <p:nvPicPr>
          <p:cNvPr id="10" name="图片 9" descr="33a913f3f3ff86358b71d2ad83fc670"/>
          <p:cNvPicPr>
            <a:picLocks noChangeAspect="1"/>
          </p:cNvPicPr>
          <p:nvPr/>
        </p:nvPicPr>
        <p:blipFill>
          <a:blip r:embed="rId5"/>
          <a:srcRect l="6831" t="12639" r="15165" b="13037"/>
          <a:stretch>
            <a:fillRect/>
          </a:stretch>
        </p:blipFill>
        <p:spPr>
          <a:xfrm rot="5400000">
            <a:off x="5722620" y="3293110"/>
            <a:ext cx="1796415" cy="380492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9011285" y="4457700"/>
            <a:ext cx="26104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嵌入式</a:t>
            </a:r>
            <a:r>
              <a:rPr lang="en-US" altLang="zh-CN"/>
              <a:t>QT</a:t>
            </a:r>
            <a:r>
              <a:rPr lang="zh-CN" altLang="en-US"/>
              <a:t>界面开发、</a:t>
            </a:r>
            <a:endParaRPr lang="zh-CN" altLang="en-US"/>
          </a:p>
          <a:p>
            <a:r>
              <a:rPr lang="en-US" altLang="zh-CN"/>
              <a:t>PCB</a:t>
            </a:r>
            <a:r>
              <a:rPr lang="zh-CN" altLang="en-US"/>
              <a:t>板设计、</a:t>
            </a:r>
            <a:endParaRPr lang="zh-CN" altLang="en-US"/>
          </a:p>
          <a:p>
            <a:r>
              <a:rPr lang="zh-CN" altLang="en-US">
                <a:sym typeface="+mn-ea"/>
              </a:rPr>
              <a:t>嵌入式控制</a:t>
            </a:r>
            <a:r>
              <a:rPr lang="zh-CN" altLang="en-US"/>
              <a:t>、</a:t>
            </a:r>
            <a:endParaRPr lang="zh-CN" altLang="en-US"/>
          </a:p>
          <a:p>
            <a:r>
              <a:rPr lang="zh-CN" altLang="en-US"/>
              <a:t>多种底层通信协议、</a:t>
            </a:r>
            <a:endParaRPr lang="zh-CN" altLang="en-US"/>
          </a:p>
          <a:p>
            <a:r>
              <a:rPr lang="zh-CN" altLang="en-US"/>
              <a:t>多年元器件选型经验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011285" y="1069975"/>
            <a:ext cx="1637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技术细分：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0055" y="4369435"/>
            <a:ext cx="2559685" cy="1779270"/>
          </a:xfrm>
          <a:prstGeom prst="rect">
            <a:avLst/>
          </a:prstGeom>
        </p:spPr>
      </p:pic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任意多边形 23"/>
          <p:cNvSpPr/>
          <p:nvPr/>
        </p:nvSpPr>
        <p:spPr>
          <a:xfrm>
            <a:off x="-14334" y="115910"/>
            <a:ext cx="1090810" cy="708672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4472C4">
              <a:lumMod val="75000"/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13311" y="257142"/>
            <a:ext cx="426212" cy="42620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4" name="同心圆 2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126733" y="266445"/>
            <a:ext cx="4144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Arial" panose="020B0604020202020204" pitchFamily="34" charset="0"/>
                <a:sym typeface="Arial" panose="020B0604020202020204"/>
              </a:rPr>
              <a:t>技术储备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27" name="object 28"/>
          <p:cNvSpPr txBox="1"/>
          <p:nvPr/>
        </p:nvSpPr>
        <p:spPr>
          <a:xfrm>
            <a:off x="592860" y="240419"/>
            <a:ext cx="2444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2</a:t>
            </a:r>
            <a:endParaRPr kumimoji="0" lang="en-US" sz="2800" b="0" i="0" u="none" strike="noStrike" kern="1200" cap="none" spc="1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59400" y="-62230"/>
            <a:ext cx="2762250" cy="500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3200" dirty="0"/>
          </a:p>
        </p:txBody>
      </p:sp>
      <p:sp>
        <p:nvSpPr>
          <p:cNvPr id="5" name="文本框 4"/>
          <p:cNvSpPr txBox="1"/>
          <p:nvPr/>
        </p:nvSpPr>
        <p:spPr>
          <a:xfrm>
            <a:off x="1330325" y="728345"/>
            <a:ext cx="3592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三、机械臂开发：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8957945" y="1781810"/>
            <a:ext cx="26104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正逆解算和插值、</a:t>
            </a:r>
            <a:endParaRPr lang="zh-CN" altLang="en-US"/>
          </a:p>
          <a:p>
            <a:r>
              <a:rPr lang="zh-CN" altLang="en-US"/>
              <a:t>机器人位置控制、</a:t>
            </a:r>
            <a:endParaRPr lang="zh-CN" altLang="en-US"/>
          </a:p>
          <a:p>
            <a:r>
              <a:rPr lang="zh-CN" altLang="en-US"/>
              <a:t>机器人导纳力度控制、</a:t>
            </a:r>
            <a:endParaRPr lang="zh-CN" altLang="en-US"/>
          </a:p>
          <a:p>
            <a:r>
              <a:rPr lang="zh-CN" altLang="en-US"/>
              <a:t>实时伺服控制、</a:t>
            </a:r>
            <a:endParaRPr lang="zh-CN" altLang="en-US"/>
          </a:p>
          <a:p>
            <a:r>
              <a:rPr lang="zh-CN" altLang="en-US">
                <a:sym typeface="+mn-ea"/>
              </a:rPr>
              <a:t>服务</a:t>
            </a:r>
            <a:r>
              <a:rPr lang="zh-CN" altLang="en-US"/>
              <a:t>机械臂开发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330325" y="3812540"/>
            <a:ext cx="415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四、视觉算法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9011285" y="4612005"/>
            <a:ext cx="26104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双目</a:t>
            </a:r>
            <a:r>
              <a:rPr lang="en-US" altLang="zh-CN"/>
              <a:t>3D</a:t>
            </a:r>
            <a:r>
              <a:rPr lang="zh-CN" altLang="en-US"/>
              <a:t>相机开发、</a:t>
            </a:r>
            <a:endParaRPr lang="zh-CN" altLang="en-US"/>
          </a:p>
          <a:p>
            <a:r>
              <a:rPr lang="zh-CN" altLang="en-US"/>
              <a:t>人体穴位检测、</a:t>
            </a:r>
            <a:endParaRPr lang="zh-CN" altLang="en-US"/>
          </a:p>
          <a:p>
            <a:r>
              <a:rPr lang="zh-CN" altLang="en-US">
                <a:sym typeface="+mn-ea"/>
              </a:rPr>
              <a:t>人体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维重建</a:t>
            </a:r>
            <a:r>
              <a:rPr lang="zh-CN" altLang="en-US"/>
              <a:t>、</a:t>
            </a:r>
            <a:endParaRPr lang="zh-CN" altLang="en-US"/>
          </a:p>
          <a:p>
            <a:r>
              <a:rPr lang="zh-CN" altLang="en-US"/>
              <a:t>视觉引导机器人控制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011285" y="1069975"/>
            <a:ext cx="1637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技术细分：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42760" y="4210685"/>
            <a:ext cx="1278890" cy="2224405"/>
          </a:xfrm>
          <a:prstGeom prst="rect">
            <a:avLst/>
          </a:prstGeom>
        </p:spPr>
      </p:pic>
      <p:pic>
        <p:nvPicPr>
          <p:cNvPr id="2" name="图片 1" descr="17a7aa6d2edfac5e1a6f5719f4bdc8a"/>
          <p:cNvPicPr>
            <a:picLocks noChangeAspect="1"/>
          </p:cNvPicPr>
          <p:nvPr/>
        </p:nvPicPr>
        <p:blipFill>
          <a:blip r:embed="rId5"/>
          <a:srcRect l="2860" t="19741" r="3086" b="60981"/>
          <a:stretch>
            <a:fillRect/>
          </a:stretch>
        </p:blipFill>
        <p:spPr>
          <a:xfrm>
            <a:off x="1435735" y="4813300"/>
            <a:ext cx="2902585" cy="13220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rcRect l="24172" t="29580" r="7400" b="11832"/>
          <a:stretch>
            <a:fillRect/>
          </a:stretch>
        </p:blipFill>
        <p:spPr>
          <a:xfrm rot="16200000">
            <a:off x="4605655" y="4642485"/>
            <a:ext cx="2341880" cy="1242695"/>
          </a:xfrm>
          <a:prstGeom prst="rect">
            <a:avLst/>
          </a:prstGeom>
        </p:spPr>
      </p:pic>
      <p:pic>
        <p:nvPicPr>
          <p:cNvPr id="11" name="图片 10" descr="微信图片_202307161632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96135" y="1230630"/>
            <a:ext cx="2167255" cy="2409190"/>
          </a:xfrm>
          <a:prstGeom prst="rect">
            <a:avLst/>
          </a:prstGeom>
        </p:spPr>
      </p:pic>
      <p:pic>
        <p:nvPicPr>
          <p:cNvPr id="15" name="图片 14" descr="0592647c77d907012513f186ed0e782"/>
          <p:cNvPicPr>
            <a:picLocks noChangeAspect="1"/>
          </p:cNvPicPr>
          <p:nvPr/>
        </p:nvPicPr>
        <p:blipFill>
          <a:blip r:embed="rId9"/>
          <a:srcRect l="30922" t="11620" r="31115" b="10324"/>
          <a:stretch>
            <a:fillRect/>
          </a:stretch>
        </p:blipFill>
        <p:spPr>
          <a:xfrm>
            <a:off x="4922520" y="1225550"/>
            <a:ext cx="2375535" cy="2198370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任意多边形 23"/>
          <p:cNvSpPr/>
          <p:nvPr/>
        </p:nvSpPr>
        <p:spPr>
          <a:xfrm>
            <a:off x="-14334" y="115910"/>
            <a:ext cx="1090810" cy="708672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4472C4">
              <a:lumMod val="75000"/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3311" y="257142"/>
            <a:ext cx="426212" cy="42620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7" name="同心圆 2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1126733" y="266445"/>
            <a:ext cx="4144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Arial" panose="020B0604020202020204" pitchFamily="34" charset="0"/>
                <a:sym typeface="Arial" panose="020B0604020202020204"/>
              </a:rPr>
              <a:t>技术储备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20" name="object 28"/>
          <p:cNvSpPr txBox="1"/>
          <p:nvPr/>
        </p:nvSpPr>
        <p:spPr>
          <a:xfrm>
            <a:off x="592860" y="240419"/>
            <a:ext cx="2444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3</a:t>
            </a:r>
            <a:endParaRPr kumimoji="0" lang="en-US" sz="2800" b="0" i="0" u="none" strike="noStrike" kern="1200" cap="none" spc="1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59400" y="-62230"/>
            <a:ext cx="2762250" cy="500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3200" dirty="0"/>
          </a:p>
        </p:txBody>
      </p:sp>
      <p:sp>
        <p:nvSpPr>
          <p:cNvPr id="5" name="文本框 4"/>
          <p:cNvSpPr txBox="1"/>
          <p:nvPr/>
        </p:nvSpPr>
        <p:spPr>
          <a:xfrm>
            <a:off x="1330325" y="728345"/>
            <a:ext cx="3592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五、软开技术：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8957945" y="1781810"/>
            <a:ext cx="26104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后端开发、</a:t>
            </a:r>
            <a:endParaRPr lang="zh-CN" altLang="en-US"/>
          </a:p>
          <a:p>
            <a:r>
              <a:rPr lang="en-US" altLang="zh-CN"/>
              <a:t>Vue</a:t>
            </a:r>
            <a:r>
              <a:rPr lang="zh-CN" altLang="en-US"/>
              <a:t>前端开发、</a:t>
            </a:r>
            <a:endParaRPr lang="zh-CN" altLang="en-US"/>
          </a:p>
          <a:p>
            <a:r>
              <a:rPr lang="en-US" altLang="zh-CN"/>
              <a:t>Mysql</a:t>
            </a:r>
            <a:r>
              <a:rPr lang="zh-CN" altLang="en-US"/>
              <a:t>数据缓存、</a:t>
            </a:r>
            <a:endParaRPr lang="zh-CN" altLang="en-US"/>
          </a:p>
          <a:p>
            <a:r>
              <a:rPr lang="zh-CN" altLang="en-US"/>
              <a:t>支持</a:t>
            </a:r>
            <a:r>
              <a:rPr lang="en-US" altLang="zh-CN"/>
              <a:t>web</a:t>
            </a:r>
            <a:r>
              <a:rPr lang="zh-CN" altLang="en-US"/>
              <a:t>端远程</a:t>
            </a:r>
            <a:r>
              <a:rPr lang="zh-CN" altLang="en-US"/>
              <a:t>链接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330325" y="3688715"/>
            <a:ext cx="415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六、产品定义和机器人供应链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9011285" y="4949825"/>
            <a:ext cx="26104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产品调研能力、</a:t>
            </a:r>
            <a:endParaRPr lang="zh-CN" altLang="en-US"/>
          </a:p>
          <a:p>
            <a:r>
              <a:rPr lang="zh-CN" altLang="en-US"/>
              <a:t>团队定义产品、</a:t>
            </a:r>
            <a:endParaRPr lang="zh-CN" altLang="en-US"/>
          </a:p>
          <a:p>
            <a:r>
              <a:rPr lang="zh-CN" altLang="en-US"/>
              <a:t>高效的团队协作、</a:t>
            </a:r>
            <a:endParaRPr lang="zh-CN" altLang="en-US"/>
          </a:p>
          <a:p>
            <a:r>
              <a:rPr lang="zh-CN" altLang="en-US"/>
              <a:t>完备的机器人供应链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011285" y="1069975"/>
            <a:ext cx="1637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技术细分：</a:t>
            </a:r>
            <a:endParaRPr lang="zh-CN" altLang="en-US"/>
          </a:p>
        </p:txBody>
      </p:sp>
      <p:pic>
        <p:nvPicPr>
          <p:cNvPr id="6" name="图片 5" descr="952c9f369512d94b3a7f29260b45c4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9672" t="13607" r="9073"/>
          <a:stretch>
            <a:fillRect/>
          </a:stretch>
        </p:blipFill>
        <p:spPr>
          <a:xfrm>
            <a:off x="930275" y="1267460"/>
            <a:ext cx="3982720" cy="21196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435" y="4344035"/>
            <a:ext cx="3463290" cy="2304415"/>
          </a:xfrm>
          <a:prstGeom prst="rect">
            <a:avLst/>
          </a:prstGeom>
        </p:spPr>
      </p:pic>
      <p:pic>
        <p:nvPicPr>
          <p:cNvPr id="16" name="图片 15" descr="cf258c13cefc6cdb5f46e5a8318acce"/>
          <p:cNvPicPr>
            <a:picLocks noChangeAspect="1"/>
          </p:cNvPicPr>
          <p:nvPr/>
        </p:nvPicPr>
        <p:blipFill>
          <a:blip r:embed="rId6"/>
          <a:srcRect l="53131" t="1023" r="2594" b="428"/>
          <a:stretch>
            <a:fillRect/>
          </a:stretch>
        </p:blipFill>
        <p:spPr>
          <a:xfrm>
            <a:off x="5092700" y="1070610"/>
            <a:ext cx="3295650" cy="23164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9400" y="4344035"/>
            <a:ext cx="2865120" cy="2279015"/>
          </a:xfrm>
          <a:prstGeom prst="rect">
            <a:avLst/>
          </a:prstGeom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任意多边形 23"/>
          <p:cNvSpPr/>
          <p:nvPr/>
        </p:nvSpPr>
        <p:spPr>
          <a:xfrm>
            <a:off x="-14334" y="115910"/>
            <a:ext cx="1090810" cy="708672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4472C4">
              <a:lumMod val="75000"/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13311" y="257142"/>
            <a:ext cx="426212" cy="42620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1" name="同心圆 2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126733" y="266445"/>
            <a:ext cx="4144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Arial" panose="020B0604020202020204" pitchFamily="34" charset="0"/>
                <a:sym typeface="Arial" panose="020B0604020202020204"/>
              </a:rPr>
              <a:t>技术储备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9" name="object 28"/>
          <p:cNvSpPr txBox="1"/>
          <p:nvPr/>
        </p:nvSpPr>
        <p:spPr>
          <a:xfrm>
            <a:off x="592860" y="240419"/>
            <a:ext cx="2444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4</a:t>
            </a:r>
            <a:endParaRPr kumimoji="0" lang="en-US" sz="2800" b="0" i="0" u="none" strike="noStrike" kern="1200" cap="none" spc="1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 userDrawn="1">
            <p:custDataLst>
              <p:tags r:id="rId1"/>
            </p:custDataLst>
          </p:nvPr>
        </p:nvSpPr>
        <p:spPr>
          <a:xfrm>
            <a:off x="3576320" y="134620"/>
            <a:ext cx="4065270" cy="48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方正瘦金书简体" panose="03000509000000000000" pitchFamily="65" charset="-122"/>
                <a:ea typeface="方正瘦金书简体" panose="03000509000000000000" pitchFamily="65" charset="-122"/>
                <a:cs typeface="+mj-cs"/>
              </a:defRPr>
            </a:lvl1pPr>
          </a:lstStyle>
          <a:p>
            <a:pPr algn="ctr"/>
            <a:r>
              <a:rPr lang="en-US" altLang="zh-CN" sz="4000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</a:rPr>
              <a:t>APP</a:t>
            </a:r>
            <a:r>
              <a:rPr lang="zh-CN" altLang="en-US" sz="4000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</a:rPr>
              <a:t>使用界面</a:t>
            </a:r>
            <a:endParaRPr lang="zh-CN" altLang="en-US" sz="4000" dirty="0">
              <a:solidFill>
                <a:srgbClr val="16479E"/>
              </a:solidFill>
              <a:latin typeface="方正悬针篆变简体" panose="02000000000000000000" pitchFamily="2" charset="-122"/>
              <a:ea typeface="方正悬针篆变简体" panose="02000000000000000000" pitchFamily="2" charset="-122"/>
            </a:endParaRPr>
          </a:p>
        </p:txBody>
      </p:sp>
      <p:pic>
        <p:nvPicPr>
          <p:cNvPr id="2" name="图片 1" descr="a85933fd33a0948354b408d851dba6c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466" t="7302" r="10093" b="333"/>
          <a:stretch>
            <a:fillRect/>
          </a:stretch>
        </p:blipFill>
        <p:spPr>
          <a:xfrm>
            <a:off x="4166870" y="3427095"/>
            <a:ext cx="3848735" cy="2068195"/>
          </a:xfrm>
          <a:prstGeom prst="rect">
            <a:avLst/>
          </a:prstGeom>
        </p:spPr>
      </p:pic>
      <p:pic>
        <p:nvPicPr>
          <p:cNvPr id="3" name="图片 2" descr="b4641c2cbc03f7e6e386b7e2c2bd52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9865" t="6549" r="12026" b="619"/>
          <a:stretch>
            <a:fillRect/>
          </a:stretch>
        </p:blipFill>
        <p:spPr>
          <a:xfrm>
            <a:off x="941705" y="843280"/>
            <a:ext cx="3590925" cy="213423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1909445" y="3075305"/>
            <a:ext cx="1471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1"/>
                </a:solidFill>
              </a:rPr>
              <a:t>1. </a:t>
            </a:r>
            <a:r>
              <a:rPr lang="zh-CN" altLang="en-US">
                <a:solidFill>
                  <a:schemeClr val="accent1"/>
                </a:solidFill>
              </a:rPr>
              <a:t>系统登录</a:t>
            </a:r>
            <a:endParaRPr lang="zh-CN" altLang="en-US">
              <a:solidFill>
                <a:schemeClr val="accent1"/>
              </a:solidFill>
            </a:endParaRPr>
          </a:p>
        </p:txBody>
      </p:sp>
      <p:pic>
        <p:nvPicPr>
          <p:cNvPr id="6" name="图片 5" descr="284d476d921b45830fcfa88ef68f7ef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10531" t="9258" r="11167" b="-451"/>
          <a:stretch>
            <a:fillRect/>
          </a:stretch>
        </p:blipFill>
        <p:spPr>
          <a:xfrm>
            <a:off x="6731000" y="885825"/>
            <a:ext cx="3851275" cy="207518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7843520" y="3068320"/>
            <a:ext cx="2001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solidFill>
                  <a:schemeClr val="accent1"/>
                </a:solidFill>
                <a:sym typeface="+mn-ea"/>
              </a:rPr>
              <a:t>2. 理疗系统选择</a:t>
            </a:r>
            <a:endParaRPr lang="en-US" altLang="zh-CN">
              <a:solidFill>
                <a:schemeClr val="accent1"/>
              </a:solidFill>
              <a:sym typeface="+mn-ea"/>
            </a:endParaRPr>
          </a:p>
        </p:txBody>
      </p:sp>
      <p:pic>
        <p:nvPicPr>
          <p:cNvPr id="8" name="图片 7" descr="952c9f369512d94b3a7f29260b45c4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9672" t="13607" r="9073"/>
          <a:stretch>
            <a:fillRect/>
          </a:stretch>
        </p:blipFill>
        <p:spPr>
          <a:xfrm>
            <a:off x="219710" y="3480435"/>
            <a:ext cx="3831590" cy="2038985"/>
          </a:xfrm>
          <a:prstGeom prst="rect">
            <a:avLst/>
          </a:prstGeom>
        </p:spPr>
      </p:pic>
      <p:pic>
        <p:nvPicPr>
          <p:cNvPr id="11" name="图片 10" descr="f7b075f3232c0a8a0a41484f1fc22a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l="9156" t="11607" r="11224"/>
          <a:stretch>
            <a:fillRect/>
          </a:stretch>
        </p:blipFill>
        <p:spPr>
          <a:xfrm>
            <a:off x="8238490" y="3436620"/>
            <a:ext cx="3807460" cy="2037715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1238250" y="5726430"/>
            <a:ext cx="2491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accent1"/>
                </a:solidFill>
              </a:rPr>
              <a:t>3. </a:t>
            </a:r>
            <a:r>
              <a:rPr lang="zh-CN" altLang="en-US">
                <a:solidFill>
                  <a:schemeClr val="accent1"/>
                </a:solidFill>
              </a:rPr>
              <a:t>点击设置理疗区域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5470525" y="5602605"/>
            <a:ext cx="2544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accent1"/>
                </a:solidFill>
              </a:rPr>
              <a:t>4. </a:t>
            </a:r>
            <a:r>
              <a:rPr lang="zh-CN" altLang="en-US">
                <a:solidFill>
                  <a:schemeClr val="accent1"/>
                </a:solidFill>
              </a:rPr>
              <a:t>疗</a:t>
            </a:r>
            <a:r>
              <a:rPr lang="en-US" altLang="zh-CN">
                <a:solidFill>
                  <a:schemeClr val="accent1"/>
                </a:solidFill>
              </a:rPr>
              <a:t>法选择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2" name="文本框 31"/>
          <p:cNvSpPr txBox="1"/>
          <p:nvPr>
            <p:custDataLst>
              <p:tags r:id="rId16"/>
            </p:custDataLst>
          </p:nvPr>
        </p:nvSpPr>
        <p:spPr>
          <a:xfrm>
            <a:off x="9605645" y="572643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accent1"/>
                </a:solidFill>
              </a:rPr>
              <a:t>5. 理疗监控</a:t>
            </a:r>
            <a:endParaRPr lang="en-US" altLang="zh-CN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DIAGRAM_VIRTUALLY_FRAME" val="{&quot;height&quot;:491.25,&quot;left&quot;:-18.2,&quot;top&quot;:66.4,&quot;width&quot;:988.25}"/>
</p:tagLst>
</file>

<file path=ppt/tags/tag13.xml><?xml version="1.0" encoding="utf-8"?>
<p:tagLst xmlns:p="http://schemas.openxmlformats.org/presentationml/2006/main">
  <p:tag name="KSO_WM_DIAGRAM_VIRTUALLY_FRAME" val="{&quot;height&quot;:491.25,&quot;left&quot;:-18.2,&quot;top&quot;:66.4,&quot;width&quot;:988.25}"/>
</p:tagLst>
</file>

<file path=ppt/tags/tag14.xml><?xml version="1.0" encoding="utf-8"?>
<p:tagLst xmlns:p="http://schemas.openxmlformats.org/presentationml/2006/main">
  <p:tag name="KSO_WM_DIAGRAM_VIRTUALLY_FRAME" val="{&quot;height&quot;:491.25,&quot;left&quot;:-18.2,&quot;top&quot;:66.4,&quot;width&quot;:988.25}"/>
</p:tagLst>
</file>

<file path=ppt/tags/tag15.xml><?xml version="1.0" encoding="utf-8"?>
<p:tagLst xmlns:p="http://schemas.openxmlformats.org/presentationml/2006/main">
  <p:tag name="KSO_WM_DIAGRAM_VIRTUALLY_FRAME" val="{&quot;height&quot;:491.25,&quot;left&quot;:-18.2,&quot;top&quot;:66.4,&quot;width&quot;:988.25}"/>
</p:tagLst>
</file>

<file path=ppt/tags/tag16.xml><?xml version="1.0" encoding="utf-8"?>
<p:tagLst xmlns:p="http://schemas.openxmlformats.org/presentationml/2006/main">
  <p:tag name="KSO_WM_BEAUTIFY_FLAG" val=""/>
  <p:tag name="KSO_WM_DIAGRAM_VIRTUALLY_FRAME" val="{&quot;height&quot;:491.25,&quot;left&quot;:-18.2,&quot;top&quot;:66.4,&quot;width&quot;:988.25}"/>
</p:tagLst>
</file>

<file path=ppt/tags/tag17.xml><?xml version="1.0" encoding="utf-8"?>
<p:tagLst xmlns:p="http://schemas.openxmlformats.org/presentationml/2006/main">
  <p:tag name="KSO_WM_DIAGRAM_VIRTUALLY_FRAME" val="{&quot;height&quot;:491.25,&quot;left&quot;:-18.2,&quot;top&quot;:66.4,&quot;width&quot;:988.25}"/>
</p:tagLst>
</file>

<file path=ppt/tags/tag18.xml><?xml version="1.0" encoding="utf-8"?>
<p:tagLst xmlns:p="http://schemas.openxmlformats.org/presentationml/2006/main">
  <p:tag name="KSO_WM_DIAGRAM_VIRTUALLY_FRAME" val="{&quot;height&quot;:491.25,&quot;left&quot;:-18.2,&quot;top&quot;:66.4,&quot;width&quot;:988.25}"/>
</p:tagLst>
</file>

<file path=ppt/tags/tag19.xml><?xml version="1.0" encoding="utf-8"?>
<p:tagLst xmlns:p="http://schemas.openxmlformats.org/presentationml/2006/main">
  <p:tag name="KSO_WM_BEAUTIFY_FLAG" val=""/>
  <p:tag name="KSO_WM_DIAGRAM_VIRTUALLY_FRAME" val="{&quot;height&quot;:491.25,&quot;left&quot;:-18.2,&quot;top&quot;:66.4,&quot;width&quot;:988.25}"/>
</p:tagLst>
</file>

<file path=ppt/tags/tag20.xml><?xml version="1.0" encoding="utf-8"?>
<p:tagLst xmlns:p="http://schemas.openxmlformats.org/presentationml/2006/main">
  <p:tag name="KSO_WM_BEAUTIFY_FLAG" val=""/>
  <p:tag name="KSO_WM_DIAGRAM_VIRTUALLY_FRAME" val="{&quot;height&quot;:491.25,&quot;left&quot;:-18.2,&quot;top&quot;:66.4,&quot;width&quot;:988.25}"/>
</p:tagLst>
</file>

<file path=ppt/tags/tag21.xml><?xml version="1.0" encoding="utf-8"?>
<p:tagLst xmlns:p="http://schemas.openxmlformats.org/presentationml/2006/main">
  <p:tag name="KSO_WM_BEAUTIFY_FLAG" val=""/>
  <p:tag name="KSO_WM_DIAGRAM_VIRTUALLY_FRAME" val="{&quot;height&quot;:491.25,&quot;left&quot;:-18.2,&quot;top&quot;:66.4,&quot;width&quot;:988.2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WPS 演示</Application>
  <PresentationFormat>宽屏</PresentationFormat>
  <Paragraphs>86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Arial Unicode MS</vt:lpstr>
      <vt:lpstr>Calibri</vt:lpstr>
      <vt:lpstr>微软雅黑</vt:lpstr>
      <vt:lpstr>方正瘦金书简体</vt:lpstr>
      <vt:lpstr>方正悬针篆变简体</vt:lpstr>
      <vt:lpstr>Arial</vt:lpstr>
      <vt:lpstr>等线</vt:lpstr>
      <vt:lpstr>Arial Black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庞亮月</dc:creator>
  <cp:lastModifiedBy>아둔한 돼지</cp:lastModifiedBy>
  <cp:revision>5</cp:revision>
  <dcterms:created xsi:type="dcterms:W3CDTF">2023-08-09T12:44:00Z</dcterms:created>
  <dcterms:modified xsi:type="dcterms:W3CDTF">2025-10-21T06:25:53Z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8C8AA137D1BC42299D47B763C893AF59_13</vt:lpwstr>
  </property>
</Properties>
</file>