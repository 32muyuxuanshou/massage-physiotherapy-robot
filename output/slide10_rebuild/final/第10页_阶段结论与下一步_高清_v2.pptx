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65cf4706e4d66" /><Relationship Type="http://schemas.openxmlformats.org/officeDocument/2006/relationships/extended-properties" Target="/docProps/app.xml" Id="R5b3c03c89b4c42cd" /><Relationship Type="http://schemas.openxmlformats.org/officeDocument/2006/relationships/officeDocument" Target="/ppt/presentation.xml" Id="R784f80f7f30c49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2c64bfe9d64113"/>
  </p:sldMasterIdLst>
  <p:notesMasterIdLst>
    <p:notesMasterId xmlns:r="http://schemas.openxmlformats.org/officeDocument/2006/relationships" r:id="Rba9a23addccb420a"/>
  </p:notesMasterIdLst>
  <p:sldIdLst>
    <p:sldId xmlns:r="http://schemas.openxmlformats.org/officeDocument/2006/relationships" id="256" r:id="R37e2af0dac7e4d5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d42604607d468d" /><Relationship Type="http://schemas.openxmlformats.org/officeDocument/2006/relationships/slideMaster" Target="/ppt/slideMasters/slideMaster1.xml" Id="R962c64bfe9d64113" /><Relationship Type="http://schemas.openxmlformats.org/officeDocument/2006/relationships/notesMaster" Target="/ppt/notesMasters/notesMaster1.xml" Id="Rba9a23addccb420a" /><Relationship Type="http://schemas.openxmlformats.org/officeDocument/2006/relationships/presProps" Target="/ppt/presProps.xml" Id="R6a249e9f9f4c47a3" /><Relationship Type="http://schemas.openxmlformats.org/officeDocument/2006/relationships/tableStyles" Target="/ppt/tableStyles.xml" Id="R34499dcb336e4efc" /><Relationship Type="http://schemas.openxmlformats.org/officeDocument/2006/relationships/slide" Target="/ppt/slides/slide1.xml" Id="R37e2af0dac7e4d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5a43a07d05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c543239ac4410" /><Relationship Type="http://schemas.openxmlformats.org/officeDocument/2006/relationships/notesMaster" Target="/ppt/notesMasters/notesMaster1.xml" Id="R0a5cb44389f243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本页用于总结合成工程阶段，并引出下一阶段真实 RGB-D 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RTMPose-S 定位器仅输入 RGB，输出 20 个二维工程点。三维位置由预测二维坐标结合场景深度与相机内参反投影获得，Depth 不是 RTMPose 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定位设置：无预训练，RGB 输入 160×128，80 epochs，seed 20260831，冻结的对称 bbox-center 微平移增强。误差在原图 1280×1024 连续坐标统计。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三种独立留出实验使用同一主 Pilot 数据，不应将测试图数相加理解为独立新增数据。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组合留出：测试图 62，可见点实例 1120，Mean 1.837 px，P95 3.937 px，Max 7.493 px，&gt;20 px 错误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体型留出：测试图 100，可见点实例 1808，Mean 2.200 px，P95 4.462 px，Max 6.841 px，&gt;20 px 错误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姿势留出：测试图 65，可见点实例 1174，Mean 1.830 px，P95 4.112 px，Max 5.250 px，&gt;20 px 错误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P95 是误差分布的第 95 百分位。三条测试的 4102 个可见点实例中，&gt;20 px 错误为零，不能据此认定未来样本无大误差。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比较对象是 Tiny Boundary Hybrid V1，不是第9页最初 TinyHeatmapNet。体型留出的 Tiny mean 为 1.944741323851652 px，RTMPose mean 退化 13.1%，但 P95/Max 改善。三条加权 mean 从 2.207 px 到 1.995 px。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右侧是单独的可靠性实验。24 个新 Shape–Pose 人体、168 张 RGB-D，按人体分为 train/calibration/untouched 12/6/6。最终未触碰测试是 6 个人体、42 张图，每个定位器 840 个点实例。三条定位器分别训练 availability 和 BAD15 逻辑回归，不复用 Tiny 模型或阈值。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组合留出可靠性：接受 672/840，接受率 80.00%，可评估接受点中 &gt;15 mm 比例 2.40%，&gt;30 mm 比例 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体型留出可靠性：接受 486/840，接受率 57.86%，可评估接受点中 &gt;15 mm 比例 4.95%，&gt;30 mm 比例 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姿势留出可靠性：接受 655/840，接受率 77.98%，可评估接受点中 &gt;15 mm 比例 1.07%，&gt;30 mm 比例 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接受率是通过 availability、BAD15 风险及有效三维检查后保留的点实例比例，不是定位准确率。可评估接受点指 accept 且 gt_available_for_3d 的子集。BAD15/BAD30 在该子集评估，不应将零 BAD30 扩展为所有输出可用或绝对安全。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Shape 分支 BAD15 4.95% 接近预冻结 5% 上限，应保留为局限。所有门限都是本轮合成工程标准，不是医学或机器人接触安全标准。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下一主任务 REAL_RGBD_DOMAIN_GATE_V1：确认真实相机型号、分辨率、内参、畸变、深度尺度与噪声，采集少量真实俯卧样本，量化合成域与真实域差距。该阶段尚未完成。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E01–E20 是非医学工程测试点，不能作为医生确认的穴位真值。尚未证明真人泛化、机器人坐标精度或接触安全。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来源：E:\项目-按摩理疗机器人\AI感知模块\outputs\内部工程证据\2026-09-02_19-48-21_RTMPOSE_SHIFT_AND_THREE_HOLDOUT_V1\result_summary.json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来源：E:\项目-按摩理疗机器人\AI感知模块\outputs\内部工程证据\2026-09-03_12-03-27_RTMPOSE_RELIABILITY_V1\untouched_evaluation.json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当前进度来源：E:\项目-按摩理疗机器人\AI感知模块\README.md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1f37079cf45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8eb8c2f612425b" /><Relationship Type="http://schemas.openxmlformats.org/officeDocument/2006/relationships/slideLayout" Target="/ppt/slideLayouts/slideLayout1.xml" Id="R3ee81bec5b14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81bec5b14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e4818d4f24541" /><Relationship Type="http://schemas.openxmlformats.org/officeDocument/2006/relationships/notesSlide" Target="/ppt/notesSlides/notesSlide1.xml" Id="Rfb5196beb77d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16EC1-D042-4F79-9B88-47B868DF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02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阶段结论与下一步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0E2FB-E95D-4EE2-9EB2-1CD552B6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402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RTMPose-S 已完成定位与可靠性测试，当前仅为合成工程候选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1313D-F37D-47E6-9164-BAC0A67D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二维定位误差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55664-5CA4-4B10-815C-3049C8F8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原图 1280×1024，统计测试集可见点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971800"/>
          <a:ext xmlns:a="http://schemas.openxmlformats.org/drawingml/2006/main" cx="62865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333750"/>
              </a:tblGrid>
              <a:tr h="5810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留出方式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平均误差（像素）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体型留出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姿势留出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760AD-6FDB-4623-967B-9EFADFF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01A80-37E4-45F3-97CD-C317F926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74735-91BD-4A4B-9226-AACE8E0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B332A-8B4B-4A2F-A903-2086B60D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4FAE1-E904-4184-9BBD-6F82D699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rPr>
              <a:t>体型平均误差较改进版 Tiny 高 13.1%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35ED2-429E-4C08-AF65-D5A6875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对照为 Tiny Boundary Hybrid，非最初版本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F2EA0-73F0-411A-9A53-81232CA0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预测可靠性筛选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DDEDB-E05E-436F-96F4-69D44C91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另设 6 个人体、42 张图像，接受率非准确率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8229600" y="2971800"/>
          <a:ext xmlns:a="http://schemas.openxmlformats.org/drawingml/2006/main" cx="62865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333750"/>
              </a:tblGrid>
              <a:tr h="5810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定位器分支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5965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预测点接受率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体型留出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姿势留出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62764-EE9A-44C4-8A77-F923DFB5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528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7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CB23F-4288-4A8F-9BDA-3001E584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849E7-58FF-4FD5-87AA-DC91E9D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148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144B6-A9D2-4217-AC30-84EB581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959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A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64E63-E830-4DDC-A246-A9C0C180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959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可评估接受点：三分支均无 &gt;30 mm 误差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1AD4F-1DE3-434D-8C1A-5BAF7C78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150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A4C17"/>
                </a:solidFill>
                <a:latin typeface="Microsoft YaHei"/>
                <a:ea typeface="Microsoft YaHei"/>
                <a:cs typeface="Microsoft YaHei"/>
              </a:rPr>
              <a:t>体型分支：4.95% 仍超过 15 mm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ADC31-8B96-43D0-AA51-67F1DBE0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7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24020-72EB-4552-B87B-2C10D49D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1402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下一步：真实 RGB-D 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7875B-0FD3-4D6D-BBDF-CB6747D6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1402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确认相机与深度特性，采集少量真实俯卧样本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D2FFB-28F9-4063-950C-07DAC40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6B"/>
                </a:solidFill>
                <a:latin typeface="Microsoft YaHei"/>
                <a:ea typeface="Microsoft YaHei"/>
                <a:cs typeface="Microsoft YaHei"/>
              </a:rPr>
              <a:t>20 个点仍为非医学工程点，尚未验证真人泛化或机器人安全</a:t>
            </a:r>
          </a:p>
        </p:txBody>
      </p:sp>
    </p:spTree>
    <p:extLst>
      <p:ext uri="{BB962C8B-B14F-4D97-AF65-F5344CB8AC3E}">
        <p14:creationId xmlns:p14="http://schemas.microsoft.com/office/powerpoint/2010/main" val="1940978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2026-09-04T11:01:27.9980000Z</dcterms:created>
  <dcterms:modified xsi:type="dcterms:W3CDTF">2026-09-04T11:01:27.9980000Z</dcterms:modified>
</coreProperties>
</file>