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8c7bfa81f940be" /><Relationship Type="http://schemas.openxmlformats.org/officeDocument/2006/relationships/extended-properties" Target="/docProps/app.xml" Id="R5088eb7d81f14f05" /><Relationship Type="http://schemas.openxmlformats.org/officeDocument/2006/relationships/officeDocument" Target="/ppt/presentation.xml" Id="R45e527213be441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09646d011d433f"/>
  </p:sldMasterIdLst>
  <p:notesMasterIdLst>
    <p:notesMasterId xmlns:r="http://schemas.openxmlformats.org/officeDocument/2006/relationships" r:id="R3efb667eb5594887"/>
  </p:notesMasterIdLst>
  <p:sldIdLst>
    <p:sldId xmlns:r="http://schemas.openxmlformats.org/officeDocument/2006/relationships" id="256" r:id="R87da14f48724456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32c57de07747e4" /><Relationship Type="http://schemas.openxmlformats.org/officeDocument/2006/relationships/slideMaster" Target="/ppt/slideMasters/slideMaster1.xml" Id="R8609646d011d433f" /><Relationship Type="http://schemas.openxmlformats.org/officeDocument/2006/relationships/notesMaster" Target="/ppt/notesMasters/notesMaster1.xml" Id="R3efb667eb5594887" /><Relationship Type="http://schemas.openxmlformats.org/officeDocument/2006/relationships/presProps" Target="/ppt/presProps.xml" Id="R3b55ed2aeaa7497d" /><Relationship Type="http://schemas.openxmlformats.org/officeDocument/2006/relationships/tableStyles" Target="/ppt/tableStyles.xml" Id="Rb845b0091d9e4e89" /><Relationship Type="http://schemas.openxmlformats.org/officeDocument/2006/relationships/slide" Target="/ppt/slides/slide1.xml" Id="R87da14f4872445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7acb458a8546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734795efba409f" /><Relationship Type="http://schemas.openxmlformats.org/officeDocument/2006/relationships/notesMaster" Target="/ppt/notesMasters/notesMaster1.xml" Id="Re103077d667449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本页用于总结合成工程阶段，并引出下一阶段真实 RGB-D 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RTMPose-S 定位器仅输入 RGB，输出 20 个二维工程点。三维位置由预测二维坐标结合场景深度与相机内参反投影获得，Depth 不是 RTMPose 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定位设置：无预训练，RGB 输入 160×128，80 epochs，seed 20260831，冻结的对称 bbox-center 微平移增强。误差在原图 1280×1024 连续坐标统计。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三种独立留出实验使用同一主 Pilot 数据，不应将测试图数相加理解为独立新增数据。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组合留出：测试图 62，可见点实例 1120，Mean 1.837 px，P95 3.937 px，Max 7.493 px，&gt;20 px 错误 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体型留出：测试图 100，可见点实例 1808，Mean 2.200 px，P95 4.462 px，Max 6.841 px，&gt;20 px 错误 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姿势留出：测试图 65，可见点实例 1174，Mean 1.830 px，P95 4.112 px，Max 5.250 px，&gt;20 px 错误 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P95 是误差分布的第 95 百分位。三条测试的 4102 个可见点实例中，&gt;20 px 错误为零，不能据此认定未来样本无大误差。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比较对象是 Tiny Boundary Hybrid V1，不是第9页最初 TinyHeatmapNet。体型留出的 Tiny mean 为 1.944741323851652 px，RTMPose mean 退化 13.1%，但 P95/Max 改善。三条加权 mean 从 2.207 px 到 1.995 px。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右侧是单独的可靠性实验。24 个新 Shape–Pose 人体、168 张 RGB-D，按人体分为 train/calibration/untouched 12/6/6。最终未触碰测试是 6 个人体、42 张图，每个定位器 840 个点实例。三条定位器分别训练 availability 和 BAD15 逻辑回归，不复用 Tiny 模型或阈值。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组合留出可靠性：接受 672/840，接受率 80.00%，可评估接受点中 &gt;15 mm 比例 2.40%，&gt;30 mm 比例 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体型留出可靠性：接受 486/840，接受率 57.86%，可评估接受点中 &gt;15 mm 比例 4.95%，&gt;30 mm 比例 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姿势留出可靠性：接受 655/840，接受率 77.98%，可评估接受点中 &gt;15 mm 比例 1.07%，&gt;30 mm 比例 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接受率是通过 availability、BAD15 风险及有效三维检查后保留的点实例比例，不是定位准确率。可评估接受点指 accept 且 gt_available_for_3d 的子集。BAD15/BAD30 在该子集评估，不应将零 BAD30 扩展为所有输出可用或绝对安全。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Shape 分支 BAD15 4.95% 接近预冻结 5% 上限，应保留为局限。所有门限都是本轮合成工程标准，不是医学或机器人接触安全标准。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下一主任务 REAL_RGBD_DOMAIN_GATE_V1：确认真实相机型号、分辨率、内参、畸变、深度尺度与噪声，采集少量真实俯卧样本，量化合成域与真实域差距。该阶段尚未完成。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E01–E20 是非医学工程测试点，不能作为医生确认的穴位真值。尚未证明真人泛化、机器人坐标精度或接触安全。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来源：E:\项目-按摩理疗机器人\AI感知模块\outputs\内部工程证据\2026-09-02_19-48-21_RTMPOSE_SHIFT_AND_THREE_HOLDOUT_V1\result_summary.json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来源：E:\项目-按摩理疗机器人\AI感知模块\outputs\内部工程证据\2026-09-03_12-03-27_RTMPOSE_RELIABILITY_V1\untouched_evaluation.json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当前进度来源：E:\项目-按摩理疗机器人\AI感知模块\README.md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6ef4ceac346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66b9fb38f34917" /><Relationship Type="http://schemas.openxmlformats.org/officeDocument/2006/relationships/slideLayout" Target="/ppt/slideLayouts/slideLayout1.xml" Id="R581a85f951da48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1a85f951da48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9312b56f540d9" /><Relationship Type="http://schemas.openxmlformats.org/officeDocument/2006/relationships/notesSlide" Target="/ppt/notesSlides/notesSlide1.xml" Id="R92609f3600d843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60C231-300B-42BC-8EBF-1326C930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02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rPr>
              <a:t>阶段结论与下一步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BE0C9-D54F-464C-93F7-7F379EBA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402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96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9656B"/>
                </a:solidFill>
                <a:latin typeface="Microsoft YaHei"/>
                <a:ea typeface="Microsoft YaHei"/>
                <a:cs typeface="Microsoft YaHei"/>
              </a:rPr>
              <a:t>RTMPose-S 已完成定位与可靠性测试，当前仅为合成工程候选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0C73C-EFF5-4EF8-9CF7-529E23AD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rPr>
              <a:t>二维定位误差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F085C-F47D-4651-956B-BC84904B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56B"/>
                </a:solidFill>
                <a:latin typeface="Microsoft YaHei"/>
                <a:ea typeface="Microsoft YaHei"/>
                <a:cs typeface="Microsoft YaHei"/>
              </a:rPr>
              <a:t>原图 1280×1024，统计测试集可见点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62865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333750"/>
              </a:tblGrid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5965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留出方式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5965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平均误差（像素）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组合留出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087B7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体型留出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087B7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姿势留出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087B7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B5F80-88E0-47CA-B4C0-CF069D57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B7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CC0C6-971C-418C-A2A4-24AA0107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AD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66261-8C77-459A-B7B4-9AE23FA1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AD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25957-728D-42AD-91C3-AEB85E39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AD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4D78A-F6CA-4BC2-9F34-140C695A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A4C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A4C17"/>
                </a:solidFill>
                <a:latin typeface="Microsoft YaHei"/>
                <a:ea typeface="Microsoft YaHei"/>
                <a:cs typeface="Microsoft YaHei"/>
              </a:rPr>
              <a:t>体型平均误差较改进版 Tiny 高 13.1%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0BEAE-8D7B-4296-96C1-31AD4981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56B"/>
                </a:solidFill>
                <a:latin typeface="Microsoft YaHei"/>
                <a:ea typeface="Microsoft YaHei"/>
                <a:cs typeface="Microsoft YaHei"/>
              </a:rPr>
              <a:t>对照为 Tiny Boundary Hybrid，非最初版本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38086F-2EE8-4765-824E-7C809E5F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812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rPr>
              <a:t>预测可靠性筛选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D0656-CCBB-41F7-B455-8DCD87EE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56B"/>
                </a:solidFill>
                <a:latin typeface="Microsoft YaHei"/>
                <a:ea typeface="Microsoft YaHei"/>
                <a:cs typeface="Microsoft YaHei"/>
              </a:rPr>
              <a:t>另设 6 个人体、42 张图像，接受率非准确率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8229600" y="2714625"/>
          <a:ext xmlns:a="http://schemas.openxmlformats.org/drawingml/2006/main" cx="62865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333750"/>
              </a:tblGrid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5965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定位器分支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5965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预测点接受率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组合留出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087B7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体型留出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087B7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57.86%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姿势留出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087B7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77.98%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2ED12-9895-4CB6-BEC6-2BACBB1E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43275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B7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DE4D0-5870-42E9-A334-ED8C108F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71925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AD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3A664-1088-48AE-97F5-0E1235A5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00575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AD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4A9F6A-4680-4C41-9611-D1088BC0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29225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AD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E261AF-5D78-4C28-A01C-34B12967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959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B7C"/>
                </a:solidFill>
                <a:latin typeface="Microsoft YaHei"/>
                <a:ea typeface="Microsoft YaHei"/>
                <a:cs typeface="Microsoft YaHei"/>
              </a:rPr>
              <a:t>可评估接受点：三分支均无 &gt;30 mm 误差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F496C4-D3D6-44FE-A8E4-8E75449C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9150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A4C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A4C17"/>
                </a:solidFill>
                <a:latin typeface="Microsoft YaHei"/>
                <a:ea typeface="Microsoft YaHei"/>
                <a:cs typeface="Microsoft YaHei"/>
              </a:rPr>
              <a:t>体型分支：4.95% 仍超过 15 mm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0DA528-A446-44CF-8C79-1C6C8923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B7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D8B7D6-370E-48F9-AE64-8C08C727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05625"/>
            <a:ext cx="1402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87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87B7C"/>
                </a:solidFill>
                <a:latin typeface="Microsoft YaHei"/>
                <a:ea typeface="Microsoft YaHei"/>
                <a:cs typeface="Microsoft YaHei"/>
              </a:rPr>
              <a:t>下一步：真实 RGB-D 验证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9C0DA3-57DC-4AAE-9BC8-2B3A00A3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0"/>
            <a:ext cx="1402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rPr>
              <a:t>确认相机与深度特性，采集少量真实俯卧样本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9A81A5-C35B-497A-8E76-49CC418A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2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56B"/>
                </a:solidFill>
                <a:latin typeface="Microsoft YaHei"/>
                <a:ea typeface="Microsoft YaHei"/>
                <a:cs typeface="Microsoft YaHei"/>
              </a:rPr>
              <a:t>20 个点仍为非医学工程点，尚未验证真人泛化或机器人安全</a:t>
            </a:r>
          </a:p>
        </p:txBody>
      </p:sp>
    </p:spTree>
    <p:extLst>
      <p:ext uri="{BB962C8B-B14F-4D97-AF65-F5344CB8AC3E}">
        <p14:creationId xmlns:p14="http://schemas.microsoft.com/office/powerpoint/2010/main" val="1511077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2026-09-04T10:59:48.7060000Z</dcterms:created>
  <dcterms:modified xsi:type="dcterms:W3CDTF">2026-09-04T10:59:48.7060000Z</dcterms:modified>
</coreProperties>
</file>