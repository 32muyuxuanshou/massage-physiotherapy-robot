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56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9" r:id="rId12"/>
    <p:sldId id="268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18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33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tags" Target="../tags/tag3.xml"/><Relationship Id="rId5" Type="http://schemas.openxmlformats.org/officeDocument/2006/relationships/image" Target="../media/image5.jpeg"/><Relationship Id="rId4" Type="http://schemas.openxmlformats.org/officeDocument/2006/relationships/tags" Target="../tags/tag2.xml"/><Relationship Id="rId3" Type="http://schemas.openxmlformats.org/officeDocument/2006/relationships/image" Target="../media/image4.jpe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jpeg"/><Relationship Id="rId7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tags" Target="../tags/tag13.xml"/><Relationship Id="rId3" Type="http://schemas.openxmlformats.org/officeDocument/2006/relationships/image" Target="../media/image16.jpe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microsoft.com/office/2007/relationships/hdphoto" Target="../media/image23.wdp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image" Target="../media/image22.png"/><Relationship Id="rId19" Type="http://schemas.openxmlformats.org/officeDocument/2006/relationships/image" Target="../media/image25.png"/><Relationship Id="rId18" Type="http://schemas.openxmlformats.org/officeDocument/2006/relationships/tags" Target="../tags/tag29.xml"/><Relationship Id="rId17" Type="http://schemas.openxmlformats.org/officeDocument/2006/relationships/image" Target="../media/image24.jpeg"/><Relationship Id="rId16" Type="http://schemas.openxmlformats.org/officeDocument/2006/relationships/tags" Target="../tags/tag28.xml"/><Relationship Id="rId15" Type="http://schemas.openxmlformats.org/officeDocument/2006/relationships/image" Target="../media/image10.jpeg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1966216"/>
            <a:ext cx="6096000" cy="3747109"/>
          </a:xfrm>
          <a:prstGeom prst="rect">
            <a:avLst/>
          </a:prstGeom>
          <a:blipFill dpi="0"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633" t="-14742" r="-7927" b="-507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464790" y="1607583"/>
            <a:ext cx="3262432" cy="924612"/>
          </a:xfr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项目分享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6096000" y="4225484"/>
            <a:ext cx="5440011" cy="64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r" defTabSz="866775" fontAlgn="base">
              <a:spcAft>
                <a:spcPct val="0"/>
              </a:spcAft>
              <a:buNone/>
            </a:pPr>
            <a:r>
              <a:rPr lang="zh-CN" altLang="en-US" sz="1895" dirty="0"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深圳市南科柔体</a:t>
            </a:r>
            <a:r>
              <a:rPr lang="en-US" altLang="zh-CN" sz="1895" dirty="0"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CEO  		</a:t>
            </a:r>
            <a:r>
              <a:rPr lang="zh-CN" altLang="en-US" sz="1895" dirty="0"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薛文博</a:t>
            </a:r>
            <a:endParaRPr lang="en-US" altLang="zh-CN" sz="1895" dirty="0"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  <a:p>
            <a:pPr algn="r" defTabSz="866775" fontAlgn="base">
              <a:spcAft>
                <a:spcPct val="0"/>
              </a:spcAft>
              <a:buNone/>
            </a:pPr>
            <a:r>
              <a:rPr lang="en-US" altLang="zh-CN" sz="1895" dirty="0"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Southern University of Science and Technology</a:t>
            </a:r>
            <a:endParaRPr lang="en-US" altLang="zh-CN" sz="1895" dirty="0"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97155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69620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一、机械设计、外观设计：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070" y="1347470"/>
            <a:ext cx="2844800" cy="22498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833620" y="1270000"/>
            <a:ext cx="2953385" cy="23552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957945" y="1781810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机器人末端、</a:t>
            </a:r>
            <a:endParaRPr lang="zh-CN" altLang="en-US"/>
          </a:p>
          <a:p>
            <a:r>
              <a:rPr lang="zh-CN" altLang="en-US"/>
              <a:t>机械臂关节、</a:t>
            </a:r>
            <a:endParaRPr lang="zh-CN" altLang="en-US"/>
          </a:p>
          <a:p>
            <a:r>
              <a:rPr lang="zh-CN" altLang="en-US"/>
              <a:t>机械臂构型设计、</a:t>
            </a:r>
            <a:endParaRPr lang="zh-CN" altLang="en-US"/>
          </a:p>
          <a:p>
            <a:r>
              <a:rPr lang="zh-CN" altLang="en-US"/>
              <a:t>以及其他智能设备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330325" y="3812540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二、嵌入式软硬件开发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10" name="图片 9" descr="33a913f3f3ff86358b71d2ad83fc670"/>
          <p:cNvPicPr>
            <a:picLocks noChangeAspect="1"/>
          </p:cNvPicPr>
          <p:nvPr/>
        </p:nvPicPr>
        <p:blipFill>
          <a:blip r:embed="rId5"/>
          <a:srcRect l="6831" t="12639" r="15165" b="13037"/>
          <a:stretch>
            <a:fillRect/>
          </a:stretch>
        </p:blipFill>
        <p:spPr>
          <a:xfrm rot="5400000">
            <a:off x="5722620" y="3293110"/>
            <a:ext cx="1796415" cy="380492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9011285" y="4457700"/>
            <a:ext cx="2610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嵌入式</a:t>
            </a:r>
            <a:r>
              <a:rPr lang="en-US" altLang="zh-CN"/>
              <a:t>QT</a:t>
            </a:r>
            <a:r>
              <a:rPr lang="zh-CN" altLang="en-US"/>
              <a:t>界面开发、</a:t>
            </a:r>
            <a:endParaRPr lang="zh-CN" altLang="en-US"/>
          </a:p>
          <a:p>
            <a:r>
              <a:rPr lang="en-US" altLang="zh-CN"/>
              <a:t>PCB</a:t>
            </a:r>
            <a:r>
              <a:rPr lang="zh-CN" altLang="en-US"/>
              <a:t>板设计、</a:t>
            </a:r>
            <a:endParaRPr lang="zh-CN" altLang="en-US"/>
          </a:p>
          <a:p>
            <a:r>
              <a:rPr lang="zh-CN" altLang="en-US">
                <a:sym typeface="+mn-ea"/>
              </a:rPr>
              <a:t>嵌入式控制</a:t>
            </a:r>
            <a:r>
              <a:rPr lang="zh-CN" altLang="en-US"/>
              <a:t>、</a:t>
            </a:r>
            <a:endParaRPr lang="zh-CN" altLang="en-US"/>
          </a:p>
          <a:p>
            <a:r>
              <a:rPr lang="zh-CN" altLang="en-US"/>
              <a:t>多种底层通信协议、</a:t>
            </a:r>
            <a:endParaRPr lang="zh-CN" altLang="en-US"/>
          </a:p>
          <a:p>
            <a:r>
              <a:rPr lang="zh-CN" altLang="en-US"/>
              <a:t>多年元器件选型经验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055" y="4369435"/>
            <a:ext cx="2559685" cy="1779270"/>
          </a:xfrm>
          <a:prstGeom prst="rect">
            <a:avLst/>
          </a:prstGeom>
        </p:spPr>
      </p:pic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27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2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-62230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2834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三、机械臂开发：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957945" y="1781810"/>
            <a:ext cx="2610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正逆解算和插值、</a:t>
            </a:r>
            <a:endParaRPr lang="zh-CN" altLang="en-US"/>
          </a:p>
          <a:p>
            <a:r>
              <a:rPr lang="zh-CN" altLang="en-US"/>
              <a:t>机器人位置控制、</a:t>
            </a:r>
            <a:endParaRPr lang="zh-CN" altLang="en-US"/>
          </a:p>
          <a:p>
            <a:r>
              <a:rPr lang="zh-CN" altLang="en-US"/>
              <a:t>机器人导纳力度控制、</a:t>
            </a:r>
            <a:endParaRPr lang="zh-CN" altLang="en-US"/>
          </a:p>
          <a:p>
            <a:r>
              <a:rPr lang="zh-CN" altLang="en-US"/>
              <a:t>实时伺服控制、</a:t>
            </a:r>
            <a:endParaRPr lang="zh-CN" altLang="en-US"/>
          </a:p>
          <a:p>
            <a:r>
              <a:rPr lang="zh-CN" altLang="en-US">
                <a:sym typeface="+mn-ea"/>
              </a:rPr>
              <a:t>服务</a:t>
            </a:r>
            <a:r>
              <a:rPr lang="zh-CN" altLang="en-US"/>
              <a:t>机械臂开发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330325" y="3812540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四、视觉算法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9011285" y="4612005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双目</a:t>
            </a:r>
            <a:r>
              <a:rPr lang="en-US" altLang="zh-CN"/>
              <a:t>3D</a:t>
            </a:r>
            <a:r>
              <a:rPr lang="zh-CN" altLang="en-US"/>
              <a:t>相机开发、</a:t>
            </a:r>
            <a:endParaRPr lang="zh-CN" altLang="en-US"/>
          </a:p>
          <a:p>
            <a:r>
              <a:rPr lang="zh-CN" altLang="en-US"/>
              <a:t>人体穴位检测、</a:t>
            </a:r>
            <a:endParaRPr lang="zh-CN" altLang="en-US"/>
          </a:p>
          <a:p>
            <a:r>
              <a:rPr lang="zh-CN" altLang="en-US">
                <a:sym typeface="+mn-ea"/>
              </a:rPr>
              <a:t>人体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维重建</a:t>
            </a:r>
            <a:r>
              <a:rPr lang="zh-CN" altLang="en-US"/>
              <a:t>、</a:t>
            </a:r>
            <a:endParaRPr lang="zh-CN" altLang="en-US"/>
          </a:p>
          <a:p>
            <a:r>
              <a:rPr lang="zh-CN" altLang="en-US"/>
              <a:t>视觉引导机器人控制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42760" y="4210685"/>
            <a:ext cx="1278890" cy="2224405"/>
          </a:xfrm>
          <a:prstGeom prst="rect">
            <a:avLst/>
          </a:prstGeom>
        </p:spPr>
      </p:pic>
      <p:pic>
        <p:nvPicPr>
          <p:cNvPr id="2" name="图片 1" descr="17a7aa6d2edfac5e1a6f5719f4bdc8a"/>
          <p:cNvPicPr>
            <a:picLocks noChangeAspect="1"/>
          </p:cNvPicPr>
          <p:nvPr/>
        </p:nvPicPr>
        <p:blipFill>
          <a:blip r:embed="rId5"/>
          <a:srcRect l="2860" t="19741" r="3086" b="60981"/>
          <a:stretch>
            <a:fillRect/>
          </a:stretch>
        </p:blipFill>
        <p:spPr>
          <a:xfrm>
            <a:off x="1435735" y="4813300"/>
            <a:ext cx="2902585" cy="13220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l="24172" t="29580" r="7400" b="11832"/>
          <a:stretch>
            <a:fillRect/>
          </a:stretch>
        </p:blipFill>
        <p:spPr>
          <a:xfrm rot="16200000">
            <a:off x="4605655" y="4642485"/>
            <a:ext cx="2341880" cy="1242695"/>
          </a:xfrm>
          <a:prstGeom prst="rect">
            <a:avLst/>
          </a:prstGeom>
        </p:spPr>
      </p:pic>
      <p:pic>
        <p:nvPicPr>
          <p:cNvPr id="11" name="图片 10" descr="微信图片_202307161632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6135" y="1230630"/>
            <a:ext cx="2167255" cy="2409190"/>
          </a:xfrm>
          <a:prstGeom prst="rect">
            <a:avLst/>
          </a:prstGeom>
        </p:spPr>
      </p:pic>
      <p:pic>
        <p:nvPicPr>
          <p:cNvPr id="15" name="图片 14" descr="0592647c77d907012513f186ed0e782"/>
          <p:cNvPicPr>
            <a:picLocks noChangeAspect="1"/>
          </p:cNvPicPr>
          <p:nvPr/>
        </p:nvPicPr>
        <p:blipFill>
          <a:blip r:embed="rId9"/>
          <a:srcRect l="30922" t="11620" r="31115" b="10324"/>
          <a:stretch>
            <a:fillRect/>
          </a:stretch>
        </p:blipFill>
        <p:spPr>
          <a:xfrm>
            <a:off x="4922520" y="1225550"/>
            <a:ext cx="2375535" cy="2198370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7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20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3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0" y="-62230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330325" y="72834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五、软开技术：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957945" y="1781810"/>
            <a:ext cx="2610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Golang</a:t>
            </a:r>
            <a:r>
              <a:rPr lang="zh-CN" altLang="en-US"/>
              <a:t>后端开发、</a:t>
            </a:r>
            <a:endParaRPr lang="zh-CN" altLang="en-US"/>
          </a:p>
          <a:p>
            <a:r>
              <a:rPr lang="en-US" altLang="zh-CN"/>
              <a:t>Vue</a:t>
            </a:r>
            <a:r>
              <a:rPr lang="zh-CN" altLang="en-US"/>
              <a:t>前端开发、</a:t>
            </a:r>
            <a:endParaRPr lang="zh-CN" altLang="en-US"/>
          </a:p>
          <a:p>
            <a:r>
              <a:rPr lang="en-US" altLang="zh-CN"/>
              <a:t>Mysql</a:t>
            </a:r>
            <a:r>
              <a:rPr lang="zh-CN" altLang="en-US"/>
              <a:t>数据缓存、</a:t>
            </a:r>
            <a:endParaRPr lang="zh-CN" altLang="en-US"/>
          </a:p>
          <a:p>
            <a:r>
              <a:rPr lang="zh-CN" altLang="en-US"/>
              <a:t>高并发开发、</a:t>
            </a:r>
            <a:endParaRPr lang="zh-CN" altLang="en-US"/>
          </a:p>
          <a:p>
            <a:r>
              <a:rPr lang="zh-CN" altLang="en-US"/>
              <a:t>跨平台开发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330325" y="3688715"/>
            <a:ext cx="415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六、产品定义和机器人供应链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9011285" y="4949825"/>
            <a:ext cx="2610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产品调研能力、</a:t>
            </a:r>
            <a:endParaRPr lang="zh-CN" altLang="en-US"/>
          </a:p>
          <a:p>
            <a:r>
              <a:rPr lang="zh-CN" altLang="en-US"/>
              <a:t>团队定义产品、</a:t>
            </a:r>
            <a:endParaRPr lang="zh-CN" altLang="en-US"/>
          </a:p>
          <a:p>
            <a:r>
              <a:rPr lang="zh-CN" altLang="en-US"/>
              <a:t>高效的团队协作、</a:t>
            </a:r>
            <a:endParaRPr lang="zh-CN" altLang="en-US"/>
          </a:p>
          <a:p>
            <a:r>
              <a:rPr lang="zh-CN" altLang="en-US"/>
              <a:t>完备的机器人供应链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011285" y="1069975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技术细分：</a:t>
            </a:r>
            <a:endParaRPr lang="zh-CN" altLang="en-US"/>
          </a:p>
        </p:txBody>
      </p:sp>
      <p:pic>
        <p:nvPicPr>
          <p:cNvPr id="6" name="图片 5" descr="952c9f369512d94b3a7f29260b45c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9672" t="13607" r="9073"/>
          <a:stretch>
            <a:fillRect/>
          </a:stretch>
        </p:blipFill>
        <p:spPr>
          <a:xfrm>
            <a:off x="1243965" y="1438275"/>
            <a:ext cx="3225800" cy="17164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435" y="4344035"/>
            <a:ext cx="3463290" cy="2304415"/>
          </a:xfrm>
          <a:prstGeom prst="rect">
            <a:avLst/>
          </a:prstGeom>
        </p:spPr>
      </p:pic>
      <p:pic>
        <p:nvPicPr>
          <p:cNvPr id="16" name="图片 15" descr="cf258c13cefc6cdb5f46e5a8318acce"/>
          <p:cNvPicPr>
            <a:picLocks noChangeAspect="1"/>
          </p:cNvPicPr>
          <p:nvPr/>
        </p:nvPicPr>
        <p:blipFill>
          <a:blip r:embed="rId6"/>
          <a:srcRect l="53131" t="1023" r="2594" b="428"/>
          <a:stretch>
            <a:fillRect/>
          </a:stretch>
        </p:blipFill>
        <p:spPr>
          <a:xfrm>
            <a:off x="5092700" y="1069975"/>
            <a:ext cx="3295650" cy="23164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0685" y="4450715"/>
            <a:ext cx="2762885" cy="2197735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技术储备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9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4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70500" y="79375"/>
            <a:ext cx="276225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725170" y="94551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一、广州郭氏研究所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5666105" y="6057265"/>
            <a:ext cx="2442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按摩机器人一代机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0102215" y="6057265"/>
            <a:ext cx="2442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二代机</a:t>
            </a:r>
            <a:endParaRPr lang="zh-CN" altLang="en-US"/>
          </a:p>
        </p:txBody>
      </p:sp>
      <p:pic>
        <p:nvPicPr>
          <p:cNvPr id="10" name="图片 27" descr="fd1d27c7289ef39348dc7bc024120bb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20175" y="2021205"/>
            <a:ext cx="2806065" cy="3740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 descr="IMG_27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8930" b="-1432"/>
          <a:stretch>
            <a:fillRect/>
          </a:stretch>
        </p:blipFill>
        <p:spPr>
          <a:xfrm>
            <a:off x="4317365" y="2021205"/>
            <a:ext cx="4549140" cy="38011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50520" y="1957705"/>
            <a:ext cx="36703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zh-CN" altLang="en-US"/>
              <a:t>郭程湘全国名老中医药专家建立</a:t>
            </a:r>
            <a:r>
              <a:rPr lang="zh-CN" altLang="en-US">
                <a:sym typeface="+mn-ea"/>
              </a:rPr>
              <a:t>广东省郭氏医学保健研究所</a:t>
            </a:r>
            <a:r>
              <a:rPr lang="zh-CN" altLang="en-US"/>
              <a:t>，以广州高新区为基地建立广东畅气通络智能佛手研究院。中医院资源、政府资源很丰厚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79730" y="3891915"/>
            <a:ext cx="36004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产品优势：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定位高端群体用户、医院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智能穴位识别，全自动化系统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力控伺服控制复现师傅手法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在拿医疗器械认证过程中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目前还在进一步产品升级，进一步模仿师傅手法，提高疗效。</a:t>
            </a:r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产品案例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5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5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43280" y="843280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二、博士科技</a:t>
            </a: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662305" y="1769745"/>
            <a:ext cx="35921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郭氏研究所控股公司，主要从事咨询、企业服务、高校技术转化。华东地区较大的咨询公司。采购我方产品进行大厅展示，潜在销售渠道。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759460" y="3712210"/>
            <a:ext cx="39363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产品优势：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定位高端群体用户、医院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智能穴位识别，全自动化系统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>
                <a:sym typeface="+mn-ea"/>
              </a:rPr>
              <a:t>配合艾草油实现无烟</a:t>
            </a:r>
            <a:r>
              <a:rPr lang="zh-CN" altLang="en-US"/>
              <a:t>微波艾灸理疗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在拿医疗器械认证流程中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962" t="21989" r="158" b="29059"/>
          <a:stretch>
            <a:fillRect/>
          </a:stretch>
        </p:blipFill>
        <p:spPr>
          <a:xfrm>
            <a:off x="5456555" y="736600"/>
            <a:ext cx="4921885" cy="5274310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产品案例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3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6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43280" y="763905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三、深圳眼千里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1821" t="3632" r="32136" b="933"/>
          <a:stretch>
            <a:fillRect/>
          </a:stretch>
        </p:blipFill>
        <p:spPr>
          <a:xfrm>
            <a:off x="5820410" y="1477010"/>
            <a:ext cx="4658995" cy="4601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7245" y="182181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自动化质检、生产设备厂商，目前是小米等企业的核心产线设备供给方，年销售额</a:t>
            </a:r>
            <a:r>
              <a:rPr lang="en-US" altLang="zh-CN"/>
              <a:t>3</a:t>
            </a:r>
            <a:r>
              <a:rPr lang="zh-CN" altLang="en-US"/>
              <a:t>亿往上。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43280" y="3561715"/>
            <a:ext cx="3936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合作情况：</a:t>
            </a:r>
            <a:endParaRPr lang="zh-CN" altLang="en-US"/>
          </a:p>
          <a:p>
            <a:r>
              <a:rPr lang="zh-CN" altLang="en-US"/>
              <a:t>已向该公司供给一台设备，对方公司老板想投资我们。考虑到多方面原因，我们暂时没有接受他的投资。</a:t>
            </a:r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产品案例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3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7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5020" y="1188720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四、南阳仙草健康集团</a:t>
            </a:r>
            <a:endParaRPr lang="zh-CN" altLang="en-US" sz="2400"/>
          </a:p>
        </p:txBody>
      </p:sp>
      <p:pic>
        <p:nvPicPr>
          <p:cNvPr id="2" name="图片 1" descr="d9778a21d012f794b1b54b68d10fc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155" y="1454150"/>
            <a:ext cx="3392170" cy="28771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34125" y="4676140"/>
            <a:ext cx="51060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四轴艾灸机器人</a:t>
            </a:r>
            <a:r>
              <a:rPr lang="zh-CN" altLang="en-US"/>
              <a:t>特点：</a:t>
            </a:r>
            <a:endParaRPr lang="zh-CN" altLang="en-US"/>
          </a:p>
          <a:p>
            <a:r>
              <a:rPr lang="en-US" altLang="zh-CN"/>
              <a:t>1.   5K </a:t>
            </a:r>
            <a:r>
              <a:rPr lang="zh-CN" altLang="en-US"/>
              <a:t>低成本方案</a:t>
            </a:r>
            <a:r>
              <a:rPr lang="en-US" altLang="zh-CN"/>
              <a:t>(</a:t>
            </a:r>
            <a:r>
              <a:rPr lang="zh-CN" altLang="en-US"/>
              <a:t>竞品价格在</a:t>
            </a:r>
            <a:r>
              <a:rPr lang="en-US" altLang="zh-CN"/>
              <a:t>5w</a:t>
            </a:r>
            <a:r>
              <a:rPr lang="zh-CN" altLang="en-US"/>
              <a:t>以上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2.   </a:t>
            </a:r>
            <a:r>
              <a:rPr lang="zh-CN" altLang="en-US"/>
              <a:t>人体三维重建引导经络线识别（竞品无视觉）</a:t>
            </a:r>
            <a:endParaRPr lang="zh-CN" altLang="en-US"/>
          </a:p>
          <a:p>
            <a:r>
              <a:rPr lang="en-US" altLang="zh-CN"/>
              <a:t>3.    </a:t>
            </a:r>
            <a:r>
              <a:rPr lang="zh-CN" altLang="en-US"/>
              <a:t>体积占用小，方便收纳</a:t>
            </a:r>
            <a:endParaRPr lang="zh-CN" altLang="en-US"/>
          </a:p>
          <a:p>
            <a:r>
              <a:rPr lang="en-US" altLang="zh-CN"/>
              <a:t>4.    </a:t>
            </a:r>
            <a:r>
              <a:rPr lang="zh-CN" altLang="en-US"/>
              <a:t>全自研，产品更替周期快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95020" y="1990725"/>
            <a:ext cx="41579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艾草厂商，经营范围涵盖艾草种植、储存、艾草销售、产品代工等内容，艾草行业龙头企业。具有强大的小</a:t>
            </a:r>
            <a:r>
              <a:rPr lang="en-US" altLang="zh-CN"/>
              <a:t>B</a:t>
            </a:r>
            <a:r>
              <a:rPr lang="zh-CN" altLang="en-US"/>
              <a:t>端销售、医院渠道，同时是艾草行业流量最大的公司。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9945" y="3971925"/>
            <a:ext cx="37966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合作关系：</a:t>
            </a:r>
            <a:endParaRPr lang="zh-CN" altLang="en-US"/>
          </a:p>
          <a:p>
            <a:r>
              <a:rPr lang="zh-CN" altLang="en-US"/>
              <a:t>目前处于合作前期，需要造一套产品卖给他们，用于验证技术水准、双方合作意向等信息。第一台售价</a:t>
            </a:r>
            <a:r>
              <a:rPr lang="en-US" altLang="zh-CN"/>
              <a:t>20w</a:t>
            </a:r>
            <a:r>
              <a:rPr lang="zh-CN" altLang="en-US"/>
              <a:t>（涵盖研发成本）</a:t>
            </a:r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产品案例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5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8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5020" y="1188720"/>
            <a:ext cx="3592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五、湖南生生科技</a:t>
            </a:r>
            <a:endParaRPr lang="zh-CN" altLang="en-US" sz="2400"/>
          </a:p>
        </p:txBody>
      </p:sp>
      <p:sp>
        <p:nvSpPr>
          <p:cNvPr id="10" name="文本框 9"/>
          <p:cNvSpPr txBox="1"/>
          <p:nvPr/>
        </p:nvSpPr>
        <p:spPr>
          <a:xfrm>
            <a:off x="795020" y="1990725"/>
            <a:ext cx="41579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专注于大健康产业，致力于通过物联网、人工智能等技术，打造智能健康管理全生态、多维度平台。属于平台方，主要从事高端大健康产品的销售工作。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83285" y="3945890"/>
            <a:ext cx="37966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合作关系：</a:t>
            </a:r>
            <a:endParaRPr lang="zh-CN" altLang="en-US"/>
          </a:p>
          <a:p>
            <a:r>
              <a:rPr lang="zh-CN" altLang="en-US"/>
              <a:t>目前处于合作前期，双方合作合同还在拟定，使用</a:t>
            </a:r>
            <a:r>
              <a:rPr lang="en-US" altLang="zh-CN"/>
              <a:t>AI+</a:t>
            </a:r>
            <a:r>
              <a:rPr lang="zh-CN" altLang="en-US"/>
              <a:t>机器人技术，根据其需求设计对应的理疗机器人，对方想做我们的一级代理。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570" y="1388110"/>
            <a:ext cx="4514215" cy="4081780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Arial" panose="020B0604020202020204" pitchFamily="34" charset="0"/>
                <a:sym typeface="Arial" panose="020B0604020202020204"/>
              </a:rPr>
              <a:t>产品案例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4" name="object 28"/>
          <p:cNvSpPr txBox="1"/>
          <p:nvPr/>
        </p:nvSpPr>
        <p:spPr>
          <a:xfrm>
            <a:off x="592860" y="240419"/>
            <a:ext cx="2444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9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69" y="2114798"/>
            <a:ext cx="2357822" cy="2378649"/>
          </a:xfrm>
          <a:prstGeom prst="rect">
            <a:avLst/>
          </a:prstGeom>
        </p:spPr>
      </p:pic>
      <p:cxnSp>
        <p:nvCxnSpPr>
          <p:cNvPr id="13" name="曲线连接符 12"/>
          <p:cNvCxnSpPr>
            <a:endCxn id="11" idx="1"/>
          </p:cNvCxnSpPr>
          <p:nvPr>
            <p:custDataLst>
              <p:tags r:id="rId4"/>
            </p:custDataLst>
          </p:nvPr>
        </p:nvCxnSpPr>
        <p:spPr>
          <a:xfrm rot="16200000">
            <a:off x="2254250" y="1830070"/>
            <a:ext cx="1885315" cy="1518920"/>
          </a:xfrm>
          <a:prstGeom prst="curvedConnector2">
            <a:avLst/>
          </a:prstGeom>
          <a:ln w="38100">
            <a:solidFill>
              <a:srgbClr val="0F31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曲线连接符 16"/>
          <p:cNvCxnSpPr/>
          <p:nvPr>
            <p:custDataLst>
              <p:tags r:id="rId5"/>
            </p:custDataLst>
          </p:nvPr>
        </p:nvCxnSpPr>
        <p:spPr>
          <a:xfrm>
            <a:off x="2437765" y="3501390"/>
            <a:ext cx="1403985" cy="33655"/>
          </a:xfrm>
          <a:prstGeom prst="curvedConnector3">
            <a:avLst>
              <a:gd name="adj1" fmla="val 50023"/>
            </a:avLst>
          </a:prstGeom>
          <a:ln w="38100">
            <a:solidFill>
              <a:srgbClr val="0F31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>
            <a:endCxn id="34" idx="1"/>
          </p:cNvCxnSpPr>
          <p:nvPr>
            <p:custDataLst>
              <p:tags r:id="rId6"/>
            </p:custDataLst>
          </p:nvPr>
        </p:nvCxnSpPr>
        <p:spPr>
          <a:xfrm rot="5400000" flipV="1">
            <a:off x="2073910" y="3881755"/>
            <a:ext cx="2150110" cy="1488440"/>
          </a:xfrm>
          <a:prstGeom prst="curvedConnector2">
            <a:avLst/>
          </a:prstGeom>
          <a:ln w="38100">
            <a:solidFill>
              <a:srgbClr val="0F31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622300" y="3036570"/>
            <a:ext cx="1814830" cy="805180"/>
          </a:xfrm>
          <a:custGeom>
            <a:avLst/>
            <a:gdLst>
              <a:gd name="connsiteX0" fmla="*/ 0 w 1692174"/>
              <a:gd name="connsiteY0" fmla="*/ 846074 h 1692147"/>
              <a:gd name="connsiteX1" fmla="*/ 846087 w 1692174"/>
              <a:gd name="connsiteY1" fmla="*/ 0 h 1692147"/>
              <a:gd name="connsiteX2" fmla="*/ 1692174 w 1692174"/>
              <a:gd name="connsiteY2" fmla="*/ 846074 h 1692147"/>
              <a:gd name="connsiteX3" fmla="*/ 846087 w 1692174"/>
              <a:gd name="connsiteY3" fmla="*/ 1692148 h 1692147"/>
              <a:gd name="connsiteX4" fmla="*/ 0 w 1692174"/>
              <a:gd name="connsiteY4" fmla="*/ 846074 h 1692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2174" h="1692147">
                <a:moveTo>
                  <a:pt x="0" y="846074"/>
                </a:moveTo>
                <a:cubicBezTo>
                  <a:pt x="0" y="378800"/>
                  <a:pt x="378806" y="0"/>
                  <a:pt x="846087" y="0"/>
                </a:cubicBezTo>
                <a:cubicBezTo>
                  <a:pt x="1313368" y="0"/>
                  <a:pt x="1692174" y="378800"/>
                  <a:pt x="1692174" y="846074"/>
                </a:cubicBezTo>
                <a:cubicBezTo>
                  <a:pt x="1692174" y="1313348"/>
                  <a:pt x="1313368" y="1692148"/>
                  <a:pt x="846087" y="1692148"/>
                </a:cubicBezTo>
                <a:cubicBezTo>
                  <a:pt x="378806" y="1692148"/>
                  <a:pt x="0" y="1313348"/>
                  <a:pt x="0" y="846074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813" tIns="247809" rIns="247813" bIns="247809" numCol="1" spcCol="1270" anchor="ctr" anchorCtr="0">
            <a:noAutofit/>
          </a:bodyPr>
          <a:lstStyle/>
          <a:p>
            <a:pPr lvl="0" algn="ctr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4000" b="1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治</a:t>
            </a:r>
            <a:r>
              <a:rPr lang="en-US" altLang="zh-CN" sz="4000" b="1" kern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4000" b="1" kern="1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疗</a:t>
            </a:r>
            <a:endParaRPr lang="zh-CN" altLang="en-US" sz="4000" b="1" kern="1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956685" y="1355090"/>
            <a:ext cx="2875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智能推拿系统</a:t>
            </a:r>
            <a:endParaRPr lang="zh-CN" altLang="en-US" sz="3200" b="1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926205" y="3011805"/>
            <a:ext cx="26917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智能艾灸系统</a:t>
            </a:r>
            <a:endParaRPr lang="zh-CN" altLang="en-US" sz="2800" b="1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3950335" y="4668520"/>
            <a:ext cx="3705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现代科技康养系统</a:t>
            </a:r>
            <a:endParaRPr lang="zh-CN" altLang="en-US" sz="3200" b="1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3841750" y="1938655"/>
            <a:ext cx="47663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AI</a:t>
            </a: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穴位识别人体解构</a:t>
            </a: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 + </a:t>
            </a: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导纳控制的大师手法复刻</a:t>
            </a: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 + </a:t>
            </a: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多功能按摩头。</a:t>
            </a: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 </a:t>
            </a: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实现智能化、多功能、医疗效果明显的智能推拿系统。</a:t>
            </a: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 </a:t>
            </a:r>
            <a:endParaRPr lang="en-US" altLang="zh-CN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3870325" y="3564255"/>
            <a:ext cx="48152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  <a:sym typeface="+mn-ea"/>
              </a:rPr>
              <a:t>AI穴位识别+ 基于体表温度的伺服距离</a:t>
            </a: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  <a:sym typeface="+mn-ea"/>
              </a:rPr>
              <a:t>控制  + 红外智能化分析系统。实现安全舒适、有效果的智能艾灸系统</a:t>
            </a:r>
            <a:endParaRPr lang="en-US" altLang="zh-CN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3893185" y="5240020"/>
            <a:ext cx="47593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超声、磁疗、热疗、光疗系统，服务于皮肤康养美容、超声脂肪消融减脂、传统医疗康养领域</a:t>
            </a:r>
            <a:r>
              <a:rPr lang="zh-CN" altLang="en-US" dirty="0">
                <a:solidFill>
                  <a:srgbClr val="16479E"/>
                </a:solidFill>
                <a:latin typeface="方正悬针篆变简体" panose="02000000000000000000" pitchFamily="2" charset="-122"/>
                <a:ea typeface="方正悬针篆变简体" panose="02000000000000000000" pitchFamily="2" charset="-122"/>
                <a:cs typeface="+mj-cs"/>
              </a:rPr>
              <a:t>，快换头快速更换。</a:t>
            </a:r>
            <a:endParaRPr lang="zh-CN" altLang="en-US" dirty="0">
              <a:solidFill>
                <a:srgbClr val="16479E"/>
              </a:solidFill>
              <a:latin typeface="方正悬针篆变简体" panose="02000000000000000000" pitchFamily="2" charset="-122"/>
              <a:ea typeface="方正悬针篆变简体" panose="02000000000000000000" pitchFamily="2" charset="-122"/>
              <a:cs typeface="+mj-cs"/>
            </a:endParaRPr>
          </a:p>
        </p:txBody>
      </p:sp>
      <p:pic>
        <p:nvPicPr>
          <p:cNvPr id="9" name="图片 8" descr="微信图片_202307161632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1455" y="2938780"/>
            <a:ext cx="1268730" cy="1689735"/>
          </a:xfrm>
          <a:prstGeom prst="rect">
            <a:avLst/>
          </a:prstGeom>
        </p:spPr>
      </p:pic>
      <p:pic>
        <p:nvPicPr>
          <p:cNvPr id="102" name="图片 101"/>
          <p:cNvPicPr/>
          <p:nvPr>
            <p:custDataLst>
              <p:tags r:id="rId16"/>
            </p:custDataLst>
          </p:nvPr>
        </p:nvPicPr>
        <p:blipFill>
          <a:blip r:embed="rId17">
            <a:clrChange>
              <a:clrFrom>
                <a:srgbClr val="F4F3EF">
                  <a:alpha val="100000"/>
                </a:srgbClr>
              </a:clrFrom>
              <a:clrTo>
                <a:srgbClr val="F4F3E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1455" y="5208905"/>
            <a:ext cx="1416685" cy="1008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47241" t="30000" r="19518" b="18232"/>
          <a:stretch>
            <a:fillRect/>
          </a:stretch>
        </p:blipFill>
        <p:spPr>
          <a:xfrm>
            <a:off x="9101455" y="1190625"/>
            <a:ext cx="1362710" cy="1415415"/>
          </a:xfrm>
          <a:prstGeom prst="rect">
            <a:avLst/>
          </a:prstGeom>
        </p:spPr>
      </p:pic>
      <p:sp>
        <p:nvSpPr>
          <p:cNvPr id="7" name="加号 6"/>
          <p:cNvSpPr/>
          <p:nvPr>
            <p:custDataLst>
              <p:tags r:id="rId20"/>
            </p:custDataLst>
          </p:nvPr>
        </p:nvSpPr>
        <p:spPr>
          <a:xfrm>
            <a:off x="9588500" y="2515870"/>
            <a:ext cx="443230" cy="42291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加号 7"/>
          <p:cNvSpPr/>
          <p:nvPr>
            <p:custDataLst>
              <p:tags r:id="rId21"/>
            </p:custDataLst>
          </p:nvPr>
        </p:nvSpPr>
        <p:spPr>
          <a:xfrm>
            <a:off x="9588500" y="4729480"/>
            <a:ext cx="443230" cy="46101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4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未来规划</a:t>
            </a:r>
            <a:endParaRPr lang="zh-CN" altLang="en-US" sz="2400" dirty="0"/>
          </a:p>
        </p:txBody>
      </p:sp>
      <p:sp>
        <p:nvSpPr>
          <p:cNvPr id="21" name="object 28"/>
          <p:cNvSpPr txBox="1"/>
          <p:nvPr/>
        </p:nvSpPr>
        <p:spPr>
          <a:xfrm>
            <a:off x="459479" y="240419"/>
            <a:ext cx="53387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10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2150" y="2589530"/>
            <a:ext cx="5415280" cy="36036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2149" y="1009015"/>
            <a:ext cx="7498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以无接触理疗为起点，跑出第一款小</a:t>
            </a:r>
            <a:r>
              <a:rPr lang="en-US" altLang="zh-CN" dirty="0"/>
              <a:t>B</a:t>
            </a:r>
            <a:r>
              <a:rPr lang="zh-CN" altLang="en-US" dirty="0"/>
              <a:t>端产品。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利用已经整合好的供应链，打造一款极具性价比的无接触理疗机器人。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375535"/>
            <a:ext cx="4943475" cy="381762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-174934"/>
            <a:ext cx="175156" cy="35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6699" tIns="43349" rIns="86699" bIns="43349" numCol="1" anchor="ctr" anchorCtr="0" compatLnSpc="1">
            <a:sp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23"/>
          <p:cNvSpPr/>
          <p:nvPr/>
        </p:nvSpPr>
        <p:spPr>
          <a:xfrm>
            <a:off x="-14334" y="115910"/>
            <a:ext cx="1090810" cy="708672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lumMod val="75000"/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13311" y="257142"/>
            <a:ext cx="426212" cy="42620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2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858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3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Arial" panose="020B0604020202020204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26733" y="266445"/>
            <a:ext cx="41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短期规划</a:t>
            </a:r>
            <a:endParaRPr lang="zh-CN" altLang="en-US" sz="2400" dirty="0"/>
          </a:p>
        </p:txBody>
      </p:sp>
      <p:sp>
        <p:nvSpPr>
          <p:cNvPr id="12" name="object 28"/>
          <p:cNvSpPr txBox="1"/>
          <p:nvPr/>
        </p:nvSpPr>
        <p:spPr>
          <a:xfrm>
            <a:off x="485420" y="240419"/>
            <a:ext cx="522579" cy="443070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+mn-ea"/>
                <a:cs typeface="Arial Black" panose="020B0A04020102020204" charset="0"/>
              </a:rPr>
              <a:t>11</a:t>
            </a:r>
            <a:endParaRPr kumimoji="0" lang="en-US" sz="2800" b="0" i="0" u="none" strike="noStrike" kern="1200" cap="none" spc="1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charset="0"/>
              <a:ea typeface="+mn-ea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COMMONDATA" val="eyJoZGlkIjoiNDdlMDJkMWY0NzMwOTMyNjM3YWM1MjE4YWZjMjliZmI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演示</Application>
  <PresentationFormat>宽屏</PresentationFormat>
  <Paragraphs>169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Adobe 黑体 Std R</vt:lpstr>
      <vt:lpstr>黑体</vt:lpstr>
      <vt:lpstr>Calibri</vt:lpstr>
      <vt:lpstr>等线</vt:lpstr>
      <vt:lpstr>Arial Black</vt:lpstr>
      <vt:lpstr>方正悬针篆变简体</vt:lpstr>
      <vt:lpstr>Arial Unicode MS</vt:lpstr>
      <vt:lpstr>WPS</vt:lpstr>
      <vt:lpstr>项目分享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项目分享</dc:title>
  <dc:creator>dell</dc:creator>
  <cp:lastModifiedBy>아둔한 돼지</cp:lastModifiedBy>
  <cp:revision>6</cp:revision>
  <dcterms:created xsi:type="dcterms:W3CDTF">2023-10-11T12:11:00Z</dcterms:created>
  <dcterms:modified xsi:type="dcterms:W3CDTF">2025-10-21T06:26:37Z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CC75CA1BCEB44CC18CAF705D284497B2_13</vt:lpwstr>
  </property>
  <property fmtid="{D5CDD505-2E9C-101B-9397-08002B2CF9AE}" pid="3" name="KSOProductBuildVer">
    <vt:lpwstr>2052-12.1.0.23125</vt:lpwstr>
  </property>
</Properties>
</file>